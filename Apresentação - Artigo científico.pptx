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8" dt="2026-10-15T04:35:45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67" y="2111555"/>
            <a:ext cx="581519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400" b="1">
                <a:solidFill>
                  <a:srgbClr val="153553"/>
                </a:solidFill>
                <a:latin typeface="Verdana"/>
                <a:ea typeface="Verdana"/>
                <a:cs typeface="Calibri"/>
              </a:rPr>
              <a:t>A dualidade da tecnologia na transição ecológica:</a:t>
            </a:r>
            <a:endParaRPr lang="pt-BR" altLang="pt-BR" sz="2400" b="1">
              <a:solidFill>
                <a:srgbClr val="153553"/>
              </a:solidFill>
              <a:latin typeface="ＭＳ Ｐゴシック"/>
              <a:ea typeface="ＭＳ Ｐゴシック"/>
              <a:cs typeface="Calibri"/>
            </a:endParaRPr>
          </a:p>
          <a:p>
            <a:pPr algn="ctr">
              <a:spcBef>
                <a:spcPct val="50000"/>
              </a:spcBef>
            </a:pPr>
            <a:endParaRPr lang="pt-BR" sz="2400" b="1" dirty="0">
              <a:solidFill>
                <a:srgbClr val="153553"/>
              </a:solidFill>
              <a:latin typeface="Verdana"/>
              <a:ea typeface="Verdana"/>
              <a:cs typeface="Calibri"/>
            </a:endParaRPr>
          </a:p>
          <a:p>
            <a:pPr algn="ctr">
              <a:spcBef>
                <a:spcPct val="50000"/>
              </a:spcBef>
            </a:pPr>
            <a:r>
              <a:rPr lang="pt-BR" sz="1600" b="1" dirty="0">
                <a:solidFill>
                  <a:srgbClr val="153553"/>
                </a:solidFill>
                <a:latin typeface="Verdana"/>
                <a:ea typeface="Verdana"/>
                <a:cs typeface="Calibri"/>
              </a:rPr>
              <a:t> consumo de recursos X eficiência </a:t>
            </a:r>
            <a:r>
              <a:rPr lang="pt-BR" sz="1600" b="1">
                <a:solidFill>
                  <a:srgbClr val="153553"/>
                </a:solidFill>
                <a:latin typeface="Verdana"/>
                <a:ea typeface="Verdana"/>
                <a:cs typeface="Calibri"/>
              </a:rPr>
              <a:t>ambiental</a:t>
            </a:r>
            <a:endParaRPr lang="pt-BR" altLang="pt-BR" sz="1600" b="1">
              <a:solidFill>
                <a:srgbClr val="153553"/>
              </a:solidFill>
              <a:latin typeface="ＭＳ Ｐゴシック"/>
              <a:ea typeface="ＭＳ Ｐゴシック"/>
              <a:cs typeface="Calibri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/>
                <a:ea typeface="ＭＳ Ｐゴシック"/>
              </a:rPr>
              <a:t>Profa. </a:t>
            </a:r>
            <a:r>
              <a:rPr lang="pt-BR" altLang="pt-BR" sz="1200" b="1">
                <a:solidFill>
                  <a:srgbClr val="153553"/>
                </a:solidFill>
                <a:latin typeface="Verdana"/>
                <a:ea typeface="ＭＳ Ｐゴシック"/>
              </a:rPr>
              <a:t>Isabella Luiza</a:t>
            </a:r>
            <a:endParaRPr lang="pt-BR" altLang="pt-BR" sz="1200" b="1" dirty="0">
              <a:solidFill>
                <a:srgbClr val="153553"/>
              </a:solidFill>
              <a:latin typeface="Verdana"/>
              <a:ea typeface="ＭＳ Ｐゴシック"/>
            </a:endParaRPr>
          </a:p>
          <a:p>
            <a:pPr>
              <a:spcBef>
                <a:spcPct val="50000"/>
              </a:spcBef>
            </a:pPr>
            <a:endParaRPr lang="pt-BR" altLang="pt-BR" sz="1200" b="1" dirty="0">
              <a:solidFill>
                <a:srgbClr val="153553"/>
              </a:solidFill>
              <a:latin typeface="Verdana"/>
              <a:ea typeface="ＭＳ Ｐゴシック"/>
            </a:endParaRPr>
          </a:p>
          <a:p>
            <a:pPr>
              <a:spcBef>
                <a:spcPct val="50000"/>
              </a:spcBef>
            </a:pP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</a:rPr>
              <a:t>Riquelme Santos</a:t>
            </a:r>
            <a:endParaRPr lang="pt-BR" altLang="pt-BR" sz="1200" dirty="0">
              <a:solidFill>
                <a:srgbClr val="153553"/>
              </a:solidFill>
              <a:latin typeface="Verdana"/>
              <a:ea typeface="ＭＳ Ｐゴシック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493" y="5940257"/>
            <a:ext cx="33039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/>
                <a:ea typeface="ＭＳ Ｐゴシック"/>
              </a:rPr>
              <a:t>Análise e </a:t>
            </a:r>
            <a:r>
              <a:rPr lang="pt-BR" altLang="pt-BR" sz="1400" b="1">
                <a:solidFill>
                  <a:schemeClr val="bg1"/>
                </a:solidFill>
                <a:latin typeface="Verdana"/>
                <a:ea typeface="ＭＳ Ｐゴシック"/>
              </a:rPr>
              <a:t>Desenvolvimento</a:t>
            </a:r>
            <a:r>
              <a:rPr lang="pt-BR" altLang="pt-BR" sz="1400" b="1" dirty="0">
                <a:solidFill>
                  <a:schemeClr val="bg1"/>
                </a:solidFill>
                <a:latin typeface="Verdana"/>
                <a:ea typeface="ＭＳ Ｐゴシック"/>
              </a:rPr>
              <a:t> de Sistemas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814" y="4556985"/>
            <a:ext cx="39796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Verdana"/>
                <a:cs typeface="Calibri"/>
              </a:rPr>
              <a:t>Tecnologia Verde; Data Centers; Consumo de Água.</a:t>
            </a:r>
            <a:endParaRPr lang="en-US"/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>
                <a:solidFill>
                  <a:srgbClr val="153553"/>
                </a:solidFill>
                <a:latin typeface="Verdana"/>
                <a:ea typeface="ＭＳ Ｐゴシック"/>
              </a:rPr>
              <a:t>2026.2</a:t>
            </a:r>
            <a:endParaRPr lang="pt-BR" altLang="pt-BR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90" y="1984376"/>
            <a:ext cx="6962274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solidFill>
                  <a:srgbClr val="000000"/>
                </a:solidFill>
                <a:latin typeface="Verdana"/>
                <a:ea typeface="Verdana"/>
                <a:cs typeface="Calibri"/>
              </a:rPr>
              <a:t>Consumo excessivo de água potável para o resfriamento de Data Centers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Era da tecnologia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Impactos ambientais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solidFill>
                  <a:srgbClr val="000000"/>
                </a:solidFill>
                <a:latin typeface="Verdana"/>
                <a:ea typeface="Verdana"/>
                <a:cs typeface="Calibri"/>
              </a:rPr>
              <a:t>Analisar os impactos ambientais que o consumo excessivo da água potável para a tecnologia podem causar.</a:t>
            </a:r>
            <a:endParaRPr lang="en-US" sz="1600" dirty="0"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solidFill>
                  <a:srgbClr val="000000"/>
                </a:solidFill>
                <a:latin typeface="Verdana"/>
                <a:ea typeface="Verdana"/>
              </a:rPr>
              <a:t>Analisar de forma científica como a tecnologia pode prejudicar as futuras gerações</a:t>
            </a:r>
            <a:endParaRPr lang="pt-BR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sz="1600" dirty="0" err="1">
                <a:latin typeface="Calibri"/>
              </a:rPr>
              <a:t>Entender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relação</a:t>
            </a:r>
            <a:r>
              <a:rPr lang="en-US" sz="1600" dirty="0">
                <a:latin typeface="Calibri"/>
              </a:rPr>
              <a:t> da </a:t>
            </a:r>
            <a:r>
              <a:rPr lang="en-US" sz="1600" dirty="0" err="1">
                <a:latin typeface="Calibri"/>
              </a:rPr>
              <a:t>tecnologia</a:t>
            </a:r>
            <a:r>
              <a:rPr lang="en-US" sz="1600" dirty="0">
                <a:latin typeface="Calibri"/>
              </a:rPr>
              <a:t> com o </a:t>
            </a:r>
            <a:r>
              <a:rPr lang="en-US" sz="1600" dirty="0" err="1">
                <a:latin typeface="Calibri"/>
              </a:rPr>
              <a:t>meio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ambiente</a:t>
            </a:r>
            <a:r>
              <a:rPr lang="en-US" sz="1600" dirty="0">
                <a:latin typeface="Calibri"/>
              </a:rPr>
              <a:t> e </a:t>
            </a:r>
            <a:r>
              <a:rPr lang="en-US" sz="1600" dirty="0" err="1">
                <a:latin typeface="Calibri"/>
              </a:rPr>
              <a:t>como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isso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nos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afeta</a:t>
            </a:r>
            <a:r>
              <a:rPr lang="en-US" sz="1600" dirty="0">
                <a:latin typeface="Calibri"/>
              </a:rPr>
              <a:t>.</a:t>
            </a:r>
            <a:endParaRPr lang="en-US" sz="1600" dirty="0">
              <a:latin typeface="+mn-ea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sz="1800" dirty="0" err="1">
                <a:latin typeface="Calibri"/>
              </a:rPr>
              <a:t>Refletir</a:t>
            </a:r>
            <a:r>
              <a:rPr lang="en-US" sz="1800" dirty="0">
                <a:latin typeface="Calibri"/>
              </a:rPr>
              <a:t> </a:t>
            </a:r>
            <a:r>
              <a:rPr lang="en-US" sz="1800" dirty="0" err="1">
                <a:latin typeface="Calibri"/>
              </a:rPr>
              <a:t>sobre</a:t>
            </a:r>
            <a:r>
              <a:rPr lang="en-US" sz="1800" dirty="0">
                <a:latin typeface="Calibri"/>
              </a:rPr>
              <a:t> </a:t>
            </a:r>
            <a:r>
              <a:rPr lang="en-US" sz="1800" dirty="0" err="1">
                <a:latin typeface="Calibri"/>
              </a:rPr>
              <a:t>os</a:t>
            </a:r>
            <a:r>
              <a:rPr lang="en-US" sz="1800" dirty="0">
                <a:latin typeface="Calibri"/>
              </a:rPr>
              <a:t> </a:t>
            </a:r>
            <a:r>
              <a:rPr lang="en-US" sz="1800" dirty="0" err="1">
                <a:latin typeface="Calibri"/>
              </a:rPr>
              <a:t>impactos</a:t>
            </a:r>
            <a:r>
              <a:rPr lang="en-US" sz="1800" dirty="0">
                <a:latin typeface="Calibri"/>
              </a:rPr>
              <a:t> </a:t>
            </a:r>
            <a:r>
              <a:rPr lang="en-US" sz="1800" dirty="0" err="1">
                <a:latin typeface="Calibri"/>
              </a:rPr>
              <a:t>ambi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entais</a:t>
            </a:r>
            <a:endParaRPr lang="en-US" sz="1800" dirty="0" err="1"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529A99E8-5E97-AC6D-EEE9-2C3FAD1C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3748177"/>
            <a:ext cx="6130925" cy="157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  <a:buNone/>
            </a:pPr>
            <a:r>
              <a:rPr lang="pt-BR" sz="1800" dirty="0">
                <a:solidFill>
                  <a:srgbClr val="475569"/>
                </a:solidFill>
                <a:latin typeface="Inter"/>
              </a:rPr>
              <a:t>O trabalho caracteriza-se como uma pesquisa de natureza teórica, desenvolvida sem procedimentos práticos diretos, fundamentando-se em referenciais bibliográficos, artigos científicos e relatórios ambientais consolidados sobre o tema.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O Gasto "Invisível" de Água Potável nos Data Centers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/>
              <a:t>Temática:</a:t>
            </a:r>
            <a:r>
              <a:rPr lang="pt-BR" sz="1000" dirty="0"/>
              <a:t> O impacto hídrico da refrigeração de servidores e a falta de transparência das empresas de tecnologia.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 err="1"/>
              <a:t>esquisadores</a:t>
            </a:r>
            <a:r>
              <a:rPr lang="pt-BR" sz="1000" b="1" dirty="0"/>
              <a:t>:</a:t>
            </a:r>
            <a:r>
              <a:rPr lang="pt-BR" sz="1000" dirty="0"/>
              <a:t> </a:t>
            </a:r>
            <a:r>
              <a:rPr lang="pt-BR" sz="1000" dirty="0" err="1"/>
              <a:t>MacKay</a:t>
            </a:r>
            <a:r>
              <a:rPr lang="pt-BR" sz="1000" dirty="0"/>
              <a:t> et al. (2021); </a:t>
            </a:r>
            <a:r>
              <a:rPr lang="pt-BR" sz="1000" dirty="0" err="1"/>
              <a:t>Yáñez-Barnuevo</a:t>
            </a:r>
            <a:r>
              <a:rPr lang="pt-BR" sz="1000" dirty="0"/>
              <a:t> (2025)</a:t>
            </a:r>
          </a:p>
          <a:p>
            <a:pPr lvl="1" indent="0">
              <a:buNone/>
            </a:pPr>
            <a:endParaRPr lang="pt-BR" sz="1000" dirty="0"/>
          </a:p>
          <a:p>
            <a:pPr marL="914400" lvl="1" indent="-171450">
              <a:buFont typeface="Wingdings" pitchFamily="2" charset="2"/>
              <a:buChar char="ü"/>
            </a:pPr>
            <a:endParaRPr lang="pt-BR" sz="10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O Impacto do Boom da Inteligência Artificial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/>
              <a:t>Temática:</a:t>
            </a:r>
            <a:r>
              <a:rPr lang="pt-BR" sz="1000" dirty="0"/>
              <a:t> O aumento exponencial do consumo e da evaporação de água limpa no treino e na execução de modelos de IA.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/>
              <a:t>Pesquisadores:</a:t>
            </a:r>
            <a:r>
              <a:rPr lang="pt-BR" sz="1000" dirty="0"/>
              <a:t> Li et al. (2024); </a:t>
            </a:r>
            <a:r>
              <a:rPr lang="pt-BR" sz="1000" dirty="0" err="1"/>
              <a:t>Yáñez-Barnuevo</a:t>
            </a:r>
            <a:r>
              <a:rPr lang="pt-BR" sz="1000" dirty="0"/>
              <a:t> (2025).</a:t>
            </a:r>
          </a:p>
          <a:p>
            <a:pPr lvl="1" indent="0">
              <a:buNone/>
            </a:pPr>
            <a:endParaRPr lang="pt-BR" sz="1000" dirty="0"/>
          </a:p>
          <a:p>
            <a:pPr lvl="1" indent="0">
              <a:buNone/>
            </a:pPr>
            <a:endParaRPr lang="pt-BR" sz="10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Soluções Práticas: Mudanças em Hardware e Software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 err="1"/>
              <a:t>emática</a:t>
            </a:r>
            <a:r>
              <a:rPr lang="pt-BR" sz="1000" b="1" dirty="0"/>
              <a:t>:</a:t>
            </a:r>
            <a:r>
              <a:rPr lang="pt-BR" sz="1000" dirty="0"/>
              <a:t> Transição para resfriamento por imersão líquida (hardware) e alocação inteligente de cargas de trabalho em climas frios (software).</a:t>
            </a:r>
          </a:p>
          <a:p>
            <a:pPr marL="914400" lvl="1" indent="-171450">
              <a:buFont typeface="Wingdings" pitchFamily="2" charset="2"/>
              <a:buChar char="ü"/>
            </a:pPr>
            <a:r>
              <a:rPr lang="pt-BR" sz="1000" b="1" dirty="0"/>
              <a:t>Pesquisadores:</a:t>
            </a:r>
            <a:r>
              <a:rPr lang="pt-BR" sz="1000" dirty="0"/>
              <a:t> </a:t>
            </a:r>
            <a:r>
              <a:rPr lang="pt-BR" sz="1000" dirty="0" err="1"/>
              <a:t>MacKay</a:t>
            </a:r>
            <a:r>
              <a:rPr lang="pt-BR" sz="1000" dirty="0"/>
              <a:t> et al. (2021); Li et al. (2024); </a:t>
            </a:r>
            <a:r>
              <a:rPr lang="pt-BR" sz="1000" dirty="0" err="1"/>
              <a:t>Yáñez-Barnuevo</a:t>
            </a:r>
            <a:r>
              <a:rPr lang="pt-BR" sz="1000" dirty="0"/>
              <a:t> (2025).</a:t>
            </a:r>
            <a:endParaRPr lang="pt-BR" sz="10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Urgência de Práticas Verdes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Responsabilidade Corporativa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Equilíbrio ecológico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Direcionamento Futuro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Criação de mais leis voltadas á preservação do meio ambiente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400" b="1" dirty="0">
                <a:solidFill>
                  <a:srgbClr val="334155"/>
                </a:solidFill>
                <a:latin typeface="Inter"/>
              </a:rPr>
              <a:t>DUVAL, R.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 </a:t>
            </a:r>
            <a:r>
              <a:rPr lang="pt-BR" sz="1400" i="1" dirty="0">
                <a:solidFill>
                  <a:srgbClr val="334155"/>
                </a:solidFill>
                <a:latin typeface="Inter"/>
              </a:rPr>
              <a:t>Green IT e o impacto ambiental dos centros de dados.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 São Paulo: Editora Moderna, 2024.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400" b="1" dirty="0">
                <a:solidFill>
                  <a:srgbClr val="334155"/>
                </a:solidFill>
                <a:latin typeface="Inter"/>
              </a:rPr>
              <a:t>SILVA, M. A.; SOUZA, J.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 </a:t>
            </a:r>
            <a:r>
              <a:rPr lang="pt-BR" sz="1400" i="1" dirty="0">
                <a:solidFill>
                  <a:srgbClr val="334155"/>
                </a:solidFill>
                <a:latin typeface="Inter"/>
              </a:rPr>
              <a:t>Consumo hídrico na era da computação em nuvem.</a:t>
            </a:r>
            <a:r>
              <a:rPr lang="pt-BR" sz="1400" dirty="0">
                <a:solidFill>
                  <a:srgbClr val="334155"/>
                </a:solidFill>
                <a:latin typeface="Inter"/>
              </a:rPr>
              <a:t> Revista Brasileira de Tecnologia e Meio Ambiente, v. 12, n. 3, p. 45-58, 2025.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334155"/>
                </a:solidFill>
                <a:latin typeface="Inter"/>
              </a:rPr>
              <a:t>WORLD ECONOMIC FORUM.</a:t>
            </a:r>
            <a:r>
              <a:rPr lang="en-US" sz="1400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400" i="1" dirty="0">
                <a:solidFill>
                  <a:srgbClr val="334155"/>
                </a:solidFill>
                <a:latin typeface="Inter"/>
              </a:rPr>
              <a:t>Harnessing Artificial Intelligence for the Earth.</a:t>
            </a:r>
            <a:r>
              <a:rPr lang="en-US" sz="1400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Inter"/>
              </a:rPr>
              <a:t>Genebra</a:t>
            </a:r>
            <a:r>
              <a:rPr lang="en-US" sz="1400" dirty="0">
                <a:solidFill>
                  <a:srgbClr val="334155"/>
                </a:solidFill>
                <a:latin typeface="Inter"/>
              </a:rPr>
              <a:t>: WEF, 2023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71738"/>
            <a:ext cx="1051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dirty="0">
                <a:solidFill>
                  <a:schemeClr val="bg1"/>
                </a:solidFill>
              </a:rPr>
              <a:t>"Toda a nossa tecnologia elogiada, o nosso próprio progresso, a nossa própria civilização, é como um machado na mão de um criminoso patológico."</a:t>
            </a:r>
            <a:endParaRPr lang="pt-BR" altLang="pt-BR" sz="32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ED717A25-5674-80A3-A711-61768C28A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27" y="4237673"/>
            <a:ext cx="1051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i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Albert </a:t>
            </a:r>
            <a:r>
              <a:rPr lang="pt-BR" altLang="pt-BR" i="1" dirty="0" err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Eisntein</a:t>
            </a:r>
            <a:endParaRPr lang="pt-BR" altLang="pt-BR" i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432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ＭＳ Ｐゴシック</vt:lpstr>
      <vt:lpstr>Arial</vt:lpstr>
      <vt:lpstr>Calibri</vt:lpstr>
      <vt:lpstr>Calibri Light</vt:lpstr>
      <vt:lpstr>Inter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Tecelagem Cinerama</cp:lastModifiedBy>
  <cp:revision>84</cp:revision>
  <dcterms:created xsi:type="dcterms:W3CDTF">2021-05-14T17:32:15Z</dcterms:created>
  <dcterms:modified xsi:type="dcterms:W3CDTF">2026-10-15T18:08:10Z</dcterms:modified>
</cp:coreProperties>
</file>